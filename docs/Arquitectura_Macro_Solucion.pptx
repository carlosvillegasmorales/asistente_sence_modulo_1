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2B49"/>
          </a:solidFill>
          <a:ln>
            <a:solidFill>
              <a:srgbClr val="18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01168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Calibri"/>
              </a:defRPr>
            </a:pPr>
            <a:r>
              <a:t>Arquitectura de la Solución</a:t>
            </a:r>
          </a:p>
          <a:p>
            <a:pPr>
              <a:spcBef>
                <a:spcPts val="1400"/>
              </a:spcBef>
              <a:defRPr sz="2200">
                <a:solidFill>
                  <a:srgbClr val="B4CDED"/>
                </a:solidFill>
                <a:latin typeface="Calibri"/>
              </a:defRPr>
            </a:pPr>
            <a:r>
              <a:t>Plataforma Moodle + Asistencia Inteligente &amp; Cumplimiento SENCE</a:t>
            </a:r>
          </a:p>
          <a:p>
            <a:pPr>
              <a:spcBef>
                <a:spcPts val="2400"/>
              </a:spcBef>
              <a:defRPr sz="1500">
                <a:solidFill>
                  <a:srgbClr val="C8D2E1"/>
                </a:solidFill>
                <a:latin typeface="Calibri"/>
              </a:defRPr>
            </a:pPr>
            <a:r>
              <a:t>Visión Macro y Componentes Principales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82B49"/>
                </a:solidFill>
                <a:latin typeface="Calibri"/>
              </a:defRPr>
            </a:pPr>
            <a:r>
              <a:t>Arquitectura General del Sistema</a:t>
            </a:r>
          </a:p>
          <a:p>
            <a:pPr>
              <a:spcBef>
                <a:spcPts val="600"/>
              </a:spcBef>
              <a:defRPr sz="1400">
                <a:solidFill>
                  <a:srgbClr val="3C4043"/>
                </a:solidFill>
                <a:latin typeface="Calibri"/>
              </a:defRPr>
            </a:pPr>
            <a:r>
              <a:t>Flujo macro: Cómo se integran el usuario, Moodle y la Inteligencia Artificial en 4 capas clave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920240"/>
            <a:ext cx="242316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2103120"/>
            <a:ext cx="914400" cy="320040"/>
          </a:xfrm>
          <a:prstGeom prst="round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PASO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2514600"/>
            <a:ext cx="2093976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2B49"/>
                </a:solidFill>
                <a:latin typeface="Calibri"/>
              </a:defRPr>
            </a:pPr>
            <a:r>
              <a:t>USUARIOS</a:t>
            </a:r>
          </a:p>
          <a:p>
            <a:pPr>
              <a:spcAft>
                <a:spcPts val="1400"/>
              </a:spcAft>
              <a:defRPr sz="1100" b="1">
                <a:solidFill>
                  <a:srgbClr val="2980B9"/>
                </a:solidFill>
                <a:latin typeface="Calibri"/>
              </a:defRPr>
            </a:pPr>
            <a:r>
              <a:t>Estudiantes y Profesores</a:t>
            </a:r>
          </a:p>
          <a:p>
            <a:pPr>
              <a:spcAft>
                <a:spcPts val="800"/>
              </a:spcAft>
              <a:defRPr sz="1150">
                <a:solidFill>
                  <a:srgbClr val="3C4043"/>
                </a:solidFill>
                <a:latin typeface="Calibri"/>
              </a:defRPr>
            </a:pPr>
            <a:r>
              <a:t>• Interactúan en la interfaz de Moodle como siempre.</a:t>
            </a:r>
          </a:p>
          <a:p>
            <a:pPr>
              <a:spcAft>
                <a:spcPts val="800"/>
              </a:spcAft>
              <a:defRPr sz="1150">
                <a:solidFill>
                  <a:srgbClr val="3C4043"/>
                </a:solidFill>
                <a:latin typeface="Calibri"/>
              </a:defRPr>
            </a:pPr>
            <a:r>
              <a:t>• Alumnos: resuelven dudas 24/7 y suben documentos SENCE.</a:t>
            </a:r>
          </a:p>
          <a:p>
            <a:pPr>
              <a:spcAft>
                <a:spcPts val="800"/>
              </a:spcAft>
              <a:defRPr sz="1150">
                <a:solidFill>
                  <a:srgbClr val="3C4043"/>
                </a:solidFill>
                <a:latin typeface="Calibri"/>
              </a:defRPr>
            </a:pPr>
            <a:r>
              <a:t>• Profesores: supervisan analíticas y alertas tempranas.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227832" y="3840480"/>
            <a:ext cx="201168" cy="320040"/>
          </a:xfrm>
          <a:prstGeom prst="rightArrow">
            <a:avLst/>
          </a:prstGeom>
          <a:solidFill>
            <a:srgbClr val="B4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502152" y="1920240"/>
            <a:ext cx="242316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685032" y="2103120"/>
            <a:ext cx="914400" cy="320040"/>
          </a:xfrm>
          <a:prstGeom prst="round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PASO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66744" y="2514600"/>
            <a:ext cx="2093976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2B49"/>
                </a:solidFill>
                <a:latin typeface="Calibri"/>
              </a:defRPr>
            </a:pPr>
            <a:r>
              <a:t>MOODLE LMS</a:t>
            </a:r>
          </a:p>
          <a:p>
            <a:pPr>
              <a:spcAft>
                <a:spcPts val="1400"/>
              </a:spcAft>
              <a:defRPr sz="1100" b="1">
                <a:solidFill>
                  <a:srgbClr val="16A085"/>
                </a:solidFill>
                <a:latin typeface="Calibri"/>
              </a:defRPr>
            </a:pPr>
            <a:r>
              <a:t>El Sistema Central</a:t>
            </a:r>
          </a:p>
          <a:p>
            <a:pPr>
              <a:spcAft>
                <a:spcPts val="800"/>
              </a:spcAft>
              <a:defRPr sz="1150">
                <a:solidFill>
                  <a:srgbClr val="3C4043"/>
                </a:solidFill>
                <a:latin typeface="Calibri"/>
              </a:defRPr>
            </a:pPr>
            <a:r>
              <a:t>• Aporta el contexto académico real del usuario.</a:t>
            </a:r>
          </a:p>
          <a:p>
            <a:pPr>
              <a:spcAft>
                <a:spcPts val="800"/>
              </a:spcAft>
              <a:defRPr sz="1150">
                <a:solidFill>
                  <a:srgbClr val="3C4043"/>
                </a:solidFill>
                <a:latin typeface="Calibri"/>
              </a:defRPr>
            </a:pPr>
            <a:r>
              <a:t>• Calificaciones con escala chilena (1.0 - 7.0).</a:t>
            </a:r>
          </a:p>
          <a:p>
            <a:pPr>
              <a:spcAft>
                <a:spcPts val="800"/>
              </a:spcAft>
              <a:defRPr sz="1150">
                <a:solidFill>
                  <a:srgbClr val="3C4043"/>
                </a:solidFill>
                <a:latin typeface="Calibri"/>
              </a:defRPr>
            </a:pPr>
            <a:r>
              <a:t>• Almacenamiento seguro de archivos y control de accesos.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998464" y="3840480"/>
            <a:ext cx="201168" cy="320040"/>
          </a:xfrm>
          <a:prstGeom prst="rightArrow">
            <a:avLst/>
          </a:prstGeom>
          <a:solidFill>
            <a:srgbClr val="B4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72784" y="1920240"/>
            <a:ext cx="242316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55664" y="2103120"/>
            <a:ext cx="914400" cy="32004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PASO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37376" y="2514600"/>
            <a:ext cx="2093976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2B49"/>
                </a:solidFill>
                <a:latin typeface="Calibri"/>
              </a:defRPr>
            </a:pPr>
            <a:r>
              <a:t>MOTOR INTELIGENTE</a:t>
            </a:r>
          </a:p>
          <a:p>
            <a:pPr>
              <a:spcAft>
                <a:spcPts val="1400"/>
              </a:spcAft>
              <a:defRPr sz="1100" b="1">
                <a:solidFill>
                  <a:srgbClr val="E67E22"/>
                </a:solidFill>
                <a:latin typeface="Calibri"/>
              </a:defRPr>
            </a:pPr>
            <a:r>
              <a:t>Plugin Especializado</a:t>
            </a:r>
          </a:p>
          <a:p>
            <a:pPr>
              <a:spcAft>
                <a:spcPts val="800"/>
              </a:spcAft>
              <a:defRPr sz="1150">
                <a:solidFill>
                  <a:srgbClr val="3C4043"/>
                </a:solidFill>
                <a:latin typeface="Calibri"/>
              </a:defRPr>
            </a:pPr>
            <a:r>
              <a:t>• Asistente Pedagógico con 3 perfiles formativos.</a:t>
            </a:r>
          </a:p>
          <a:p>
            <a:pPr>
              <a:spcAft>
                <a:spcPts val="800"/>
              </a:spcAft>
              <a:defRPr sz="1150">
                <a:solidFill>
                  <a:srgbClr val="3C4043"/>
                </a:solidFill>
                <a:latin typeface="Calibri"/>
              </a:defRPr>
            </a:pPr>
            <a:r>
              <a:t>• Validador SENCE: juzga si los PDFs cumplen requisitos.</a:t>
            </a:r>
          </a:p>
          <a:p>
            <a:pPr>
              <a:spcAft>
                <a:spcPts val="800"/>
              </a:spcAft>
              <a:defRPr sz="1150">
                <a:solidFill>
                  <a:srgbClr val="3C4043"/>
                </a:solidFill>
                <a:latin typeface="Calibri"/>
              </a:defRPr>
            </a:pPr>
            <a:r>
              <a:t>• Detector de alerta temprana ante riesgo de abandono.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8769096" y="3840480"/>
            <a:ext cx="201168" cy="320040"/>
          </a:xfrm>
          <a:prstGeom prst="rightArrow">
            <a:avLst/>
          </a:prstGeom>
          <a:solidFill>
            <a:srgbClr val="B4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043416" y="1920240"/>
            <a:ext cx="242316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226296" y="2103120"/>
            <a:ext cx="914400" cy="32004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PASO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08008" y="2514600"/>
            <a:ext cx="2093976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2B49"/>
                </a:solidFill>
                <a:latin typeface="Calibri"/>
              </a:defRPr>
            </a:pPr>
            <a:r>
              <a:t>NUBE DE IA</a:t>
            </a:r>
          </a:p>
          <a:p>
            <a:pPr>
              <a:spcAft>
                <a:spcPts val="1400"/>
              </a:spcAft>
              <a:defRPr sz="1100" b="1">
                <a:solidFill>
                  <a:srgbClr val="8E44AD"/>
                </a:solidFill>
                <a:latin typeface="Calibri"/>
              </a:defRPr>
            </a:pPr>
            <a:r>
              <a:t>Modelos Flexibles (LLMs)</a:t>
            </a:r>
          </a:p>
          <a:p>
            <a:pPr>
              <a:spcAft>
                <a:spcPts val="800"/>
              </a:spcAft>
              <a:defRPr sz="1150">
                <a:solidFill>
                  <a:srgbClr val="3C4043"/>
                </a:solidFill>
                <a:latin typeface="Calibri"/>
              </a:defRPr>
            </a:pPr>
            <a:r>
              <a:t>• Google Gemini, Claude, OpenAI o Azure AI.</a:t>
            </a:r>
          </a:p>
          <a:p>
            <a:pPr>
              <a:spcAft>
                <a:spcPts val="800"/>
              </a:spcAft>
              <a:defRPr sz="1150">
                <a:solidFill>
                  <a:srgbClr val="3C4043"/>
                </a:solidFill>
                <a:latin typeface="Calibri"/>
              </a:defRPr>
            </a:pPr>
            <a:r>
              <a:t>• Arquitectura desacoplada (sin ataduras a una marca).</a:t>
            </a:r>
          </a:p>
          <a:p>
            <a:pPr>
              <a:spcAft>
                <a:spcPts val="800"/>
              </a:spcAft>
              <a:defRPr sz="1150">
                <a:solidFill>
                  <a:srgbClr val="3C4043"/>
                </a:solidFill>
                <a:latin typeface="Calibri"/>
              </a:defRPr>
            </a:pPr>
            <a:r>
              <a:t>• Ahorro de costos mediante Prompt Caching.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788291"/>
                </a:solidFill>
              </a:defRPr>
            </a:pPr>
            <a:r>
              <a:t>Principio de diseño: Human-in-the-loop (la IA propone, el facilitador o tutor siempre tiene el control final).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